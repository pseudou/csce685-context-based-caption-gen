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  <p:sldMasterId id="2147483660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6" roundtripDataSignature="AMtx7mgBg8wa1qrQ4gWO4GiOX7uqtltLm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3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slideMaster" Target="slideMasters/slideMaster2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6" Type="http://customschemas.google.com/relationships/presentationmetadata" Target="meta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3858dd141c3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61" name="Google Shape;161;g3858dd141c3_1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37cbbea260f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1" name="Google Shape;171;g37cbbea260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384a220ce24_0_1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7" name="Google Shape;177;g384a220ce24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38489466ee6_0_1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3" name="Google Shape;183;g38489466ee6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g38489466ee6_0_1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0" name="Google Shape;190;g38489466ee6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38489466ee6_0_2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6" name="Google Shape;196;g38489466ee6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38489466ee6_0_2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3" name="Google Shape;203;g38489466ee6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g38489466ee6_0_3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0" name="Google Shape;210;g38489466ee6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g38489466ee6_0_3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7" name="Google Shape;217;g38489466ee6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g38489466ee6_0_4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4" name="Google Shape;224;g38489466ee6_0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4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34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4" name="Google Shape;14;p3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3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3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47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4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4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4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8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8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Google Shape;26;p4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4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4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4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49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" name="Google Shape;32;p49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" name="Google Shape;33;p4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4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4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50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50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9" name="Google Shape;39;p50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50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50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5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5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5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5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5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5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5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5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5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5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53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53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53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8" name="Google Shape;58;p5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5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5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54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54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54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5" name="Google Shape;65;p5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5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5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5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55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5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5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5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56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56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5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5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5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3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" name="Google Shape;88;p36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9" name="Google Shape;89;p3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0" name="Google Shape;90;p3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1" name="Google Shape;91;p3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2e1f260207_0_137"/>
          <p:cNvSpPr txBox="1"/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4" name="Google Shape;94;g32e1f260207_0_137"/>
          <p:cNvSpPr txBox="1"/>
          <p:nvPr>
            <p:ph idx="1" type="body"/>
          </p:nvPr>
        </p:nvSpPr>
        <p:spPr>
          <a:xfrm>
            <a:off x="415600" y="1536633"/>
            <a:ext cx="113607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1pPr>
            <a:lvl2pPr indent="-3810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400"/>
              <a:buChar char="•"/>
              <a:defRPr/>
            </a:lvl2pPr>
            <a:lvl3pPr indent="-355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95" name="Google Shape;95;g32e1f260207_0_137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37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8" name="Google Shape;98;p37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99" name="Google Shape;99;p3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0" name="Google Shape;100;p3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1" name="Google Shape;101;p3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38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4" name="Google Shape;104;p38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05" name="Google Shape;105;p3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6" name="Google Shape;106;p3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7" name="Google Shape;107;p3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3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0" name="Google Shape;110;p39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1" name="Google Shape;111;p39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2" name="Google Shape;112;p3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3" name="Google Shape;113;p3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4" name="Google Shape;114;p3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40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7" name="Google Shape;117;p40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18" name="Google Shape;118;p40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9" name="Google Shape;119;p40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20" name="Google Shape;120;p40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21" name="Google Shape;121;p4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2" name="Google Shape;122;p4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3" name="Google Shape;123;p4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4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6" name="Google Shape;126;p4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7" name="Google Shape;127;p4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8" name="Google Shape;128;p4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4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1" name="Google Shape;131;p4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2" name="Google Shape;132;p4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43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5" name="Google Shape;135;p43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136" name="Google Shape;136;p43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137" name="Google Shape;137;p4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8" name="Google Shape;138;p4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9" name="Google Shape;139;p4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44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2" name="Google Shape;142;p44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143" name="Google Shape;143;p44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144" name="Google Shape;144;p4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5" name="Google Shape;145;p4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6" name="Google Shape;146;p4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4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9" name="Google Shape;149;p45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50" name="Google Shape;150;p4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1" name="Google Shape;151;p4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2" name="Google Shape;152;p4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46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5" name="Google Shape;155;p46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56" name="Google Shape;156;p4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7" name="Google Shape;157;p4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8" name="Google Shape;158;p4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3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33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3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3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3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3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2" name="Google Shape;82;p35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3" name="Google Shape;83;p3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4" name="Google Shape;84;p3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5" name="Google Shape;85;p3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Relationship Id="rId3" Type="http://schemas.openxmlformats.org/officeDocument/2006/relationships/hyperlink" Target="https://www.jstor.org/stable/pdf/3597229.pdf" TargetMode="External"/><Relationship Id="rId4" Type="http://schemas.openxmlformats.org/officeDocument/2006/relationships/hyperlink" Target="https://urldefense.com/v3/__https://en.wikipedia.org/wiki/AKS_Primality_Test__;!!KwNVnqRv!FUSOosI-sBXBb7PEhW6P3oU1a-kAbs17vExKPJ7W_7co_sS2bSlRdPcF-pzzEQ5FuwvkIVlpTrUrFRCR6BJGZqKL47M0I4ht_N6bIg$" TargetMode="External"/><Relationship Id="rId9" Type="http://schemas.openxmlformats.org/officeDocument/2006/relationships/hyperlink" Target="https://urldefense.com/v3/__https://forms.gle/3zNv3JuXCWw4yLaF7__;!!KwNVnqRv!FUSOosI-sBXBb7PEhW6P3oU1a-kAbs17vExKPJ7W_7co_sS2bSlRdPcF-pzzEQ5FuwvkIVlpTrUrFRCR6BJGZqKL47M0I4hbwBLCng$" TargetMode="External"/><Relationship Id="rId5" Type="http://schemas.openxmlformats.org/officeDocument/2006/relationships/hyperlink" Target="https://urldefense.com/v3/__https://en.wikipedia.org/wiki/Manindra_Agrawal__;!!KwNVnqRv!FUSOosI-sBXBb7PEhW6P3oU1a-kAbs17vExKPJ7W_7co_sS2bSlRdPcF-pzzEQ5FuwvkIVlpTrUrFRCR6BJGZqKL47M0I4i07U416Q$" TargetMode="External"/><Relationship Id="rId6" Type="http://schemas.openxmlformats.org/officeDocument/2006/relationships/hyperlink" Target="https://urldefense.com/v3/__https://en.wikipedia.org/wiki/Neeraj_Kayal__;!!KwNVnqRv!FUSOosI-sBXBb7PEhW6P3oU1a-kAbs17vExKPJ7W_7co_sS2bSlRdPcF-pzzEQ5FuwvkIVlpTrUrFRCR6BJGZqKL47M0I4iOERgHmA$" TargetMode="External"/><Relationship Id="rId7" Type="http://schemas.openxmlformats.org/officeDocument/2006/relationships/hyperlink" Target="https://urldefense.com/v3/__https://en.wikipedia.org/wiki/Fulkerson_Prize__;!!KwNVnqRv!FUSOosI-sBXBb7PEhW6P3oU1a-kAbs17vExKPJ7W_7co_sS2bSlRdPcF-pzzEQ5FuwvkIVlpTrUrFRCR6BJGZqKL47M0I4jj8jQhDg$" TargetMode="External"/><Relationship Id="rId8" Type="http://schemas.openxmlformats.org/officeDocument/2006/relationships/hyperlink" Target="https://urldefense.com/v3/__https://en.wikipedia.org/wiki/G**Adel_Prize__;w7Y!!KwNVnqRv!FUSOosI-sBXBb7PEhW6P3oU1a-kAbs17vExKPJ7W_7co_sS2bSlRdPcF-pzzEQ5FuwvkIVlpTrUrFRCR6BJGZqKL47M0I4iFmFk26w$" TargetMode="Externa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6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3858dd141c3_1_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g3858dd141c3_1_0"/>
          <p:cNvSpPr/>
          <p:nvPr/>
        </p:nvSpPr>
        <p:spPr>
          <a:xfrm flipH="1">
            <a:off x="8576660" y="3335867"/>
            <a:ext cx="329190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g3858dd141c3_1_0"/>
          <p:cNvSpPr/>
          <p:nvPr/>
        </p:nvSpPr>
        <p:spPr>
          <a:xfrm>
            <a:off x="641774" y="623275"/>
            <a:ext cx="10905000" cy="5607900"/>
          </a:xfrm>
          <a:prstGeom prst="rect">
            <a:avLst/>
          </a:prstGeom>
          <a:noFill/>
          <a:ln cap="flat" cmpd="sng" w="19050">
            <a:solidFill>
              <a:srgbClr val="3F3F3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g3858dd141c3_1_0"/>
          <p:cNvSpPr txBox="1"/>
          <p:nvPr>
            <p:ph type="ctrTitle"/>
          </p:nvPr>
        </p:nvSpPr>
        <p:spPr>
          <a:xfrm>
            <a:off x="1285241" y="1008993"/>
            <a:ext cx="9231300" cy="3542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500"/>
              <a:buFont typeface="Calibri"/>
              <a:buNone/>
            </a:pPr>
            <a:r>
              <a:rPr lang="en-US" sz="7600"/>
              <a:t>Special Topics</a:t>
            </a:r>
            <a:endParaRPr sz="7600"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500"/>
              <a:buFont typeface="Calibri"/>
              <a:buNone/>
            </a:pPr>
            <a:r>
              <a:rPr lang="en-US" sz="6650"/>
              <a:t>Security Engineering</a:t>
            </a:r>
            <a:br>
              <a:rPr lang="en-US" sz="11500"/>
            </a:br>
            <a:r>
              <a:rPr lang="en-US" sz="4800"/>
              <a:t>CSCE 689/489 Week 6</a:t>
            </a:r>
            <a:endParaRPr sz="4800"/>
          </a:p>
        </p:txBody>
      </p:sp>
      <p:sp>
        <p:nvSpPr>
          <p:cNvPr id="167" name="Google Shape;167;g3858dd141c3_1_0"/>
          <p:cNvSpPr txBox="1"/>
          <p:nvPr>
            <p:ph idx="1" type="subTitle"/>
          </p:nvPr>
        </p:nvSpPr>
        <p:spPr>
          <a:xfrm>
            <a:off x="1285241" y="4582814"/>
            <a:ext cx="7132200" cy="1312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n-US" sz="3200"/>
              <a:t>Prof. Shreyas Kumar </a:t>
            </a:r>
            <a:br>
              <a:rPr lang="en-US" sz="3200"/>
            </a:br>
            <a:br>
              <a:rPr lang="en-US" sz="3200"/>
            </a:br>
            <a:endParaRPr sz="1600"/>
          </a:p>
        </p:txBody>
      </p:sp>
      <p:pic>
        <p:nvPicPr>
          <p:cNvPr id="168" name="Google Shape;168;g3858dd141c3_1_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553188" y="772850"/>
            <a:ext cx="1800225" cy="140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37cbbea260f_0_0"/>
          <p:cNvSpPr txBox="1"/>
          <p:nvPr>
            <p:ph type="title"/>
          </p:nvPr>
        </p:nvSpPr>
        <p:spPr>
          <a:xfrm>
            <a:off x="0" y="3778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   Week 7 - Incident Response</a:t>
            </a:r>
            <a:endParaRPr/>
          </a:p>
        </p:txBody>
      </p:sp>
      <p:sp>
        <p:nvSpPr>
          <p:cNvPr id="174" name="Google Shape;174;g37cbbea260f_0_0"/>
          <p:cNvSpPr txBox="1"/>
          <p:nvPr>
            <p:ph idx="1" type="body"/>
          </p:nvPr>
        </p:nvSpPr>
        <p:spPr>
          <a:xfrm>
            <a:off x="0" y="17035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900"/>
              </a:spcBef>
              <a:spcAft>
                <a:spcPts val="0"/>
              </a:spcAft>
              <a:buClr>
                <a:srgbClr val="273540"/>
              </a:buClr>
              <a:buSzPts val="1800"/>
              <a:buChar char="•"/>
            </a:pPr>
            <a:r>
              <a:rPr lang="en-US" sz="1800">
                <a:solidFill>
                  <a:srgbClr val="27354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Incident response lifecycle (NIST 800-61)</a:t>
            </a:r>
            <a:endParaRPr sz="1800">
              <a:solidFill>
                <a:srgbClr val="273540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73540"/>
              </a:buClr>
              <a:buSzPts val="1800"/>
              <a:buChar char="•"/>
            </a:pPr>
            <a:r>
              <a:rPr lang="en-US" sz="1800">
                <a:solidFill>
                  <a:srgbClr val="27354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Digital forensics fundamentals</a:t>
            </a:r>
            <a:endParaRPr sz="1800">
              <a:solidFill>
                <a:srgbClr val="273540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73540"/>
              </a:buClr>
              <a:buSzPts val="1800"/>
              <a:buChar char="•"/>
            </a:pPr>
            <a:r>
              <a:rPr lang="en-US" sz="1800">
                <a:solidFill>
                  <a:srgbClr val="27354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Security Information and Event Management (SIEM) tools</a:t>
            </a:r>
            <a:endParaRPr sz="1800">
              <a:solidFill>
                <a:srgbClr val="273540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200000"/>
              </a:lnSpc>
              <a:spcBef>
                <a:spcPts val="9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2400">
              <a:highlight>
                <a:srgbClr val="FFFFFF"/>
              </a:highlight>
            </a:endParaRPr>
          </a:p>
          <a:p>
            <a:pPr indent="0" lvl="0" marL="457200" rtl="0" algn="l">
              <a:lnSpc>
                <a:spcPct val="2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9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384a220ce24_0_10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Announcements</a:t>
            </a:r>
            <a:endParaRPr/>
          </a:p>
        </p:txBody>
      </p:sp>
      <p:sp>
        <p:nvSpPr>
          <p:cNvPr id="180" name="Google Shape;180;g384a220ce24_0_10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85000" lnSpcReduction="2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64285"/>
              <a:buNone/>
            </a:pPr>
            <a:r>
              <a:rPr lang="en-US" u="sng">
                <a:solidFill>
                  <a:schemeClr val="hlink"/>
                </a:solidFill>
                <a:hlinkClick r:id="rId3"/>
              </a:rPr>
              <a:t>https://www.jstor.org/stable/pdf/3597229.pdf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64285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1" lang="en-US" sz="1100">
                <a:solidFill>
                  <a:srgbClr val="222222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Event Details</a:t>
            </a:r>
            <a:endParaRPr b="1" sz="1100">
              <a:solidFill>
                <a:srgbClr val="222222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sz="1100">
                <a:solidFill>
                  <a:srgbClr val="222222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</a:t>
            </a:r>
            <a:endParaRPr sz="1100">
              <a:solidFill>
                <a:srgbClr val="222222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sz="1100">
                <a:solidFill>
                  <a:srgbClr val="222222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Title: Discuss Translational AI, Cybersecurity, and the Future of CS in India</a:t>
            </a:r>
            <a:endParaRPr sz="1100">
              <a:solidFill>
                <a:srgbClr val="222222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sz="1100">
                <a:solidFill>
                  <a:srgbClr val="222222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Date/Time: Oct 9th, 2025; 11:30:–1:00 PM</a:t>
            </a:r>
            <a:endParaRPr sz="1100">
              <a:solidFill>
                <a:srgbClr val="222222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sz="1100">
                <a:solidFill>
                  <a:srgbClr val="222222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Location: PETR 118</a:t>
            </a:r>
            <a:endParaRPr sz="1100">
              <a:solidFill>
                <a:srgbClr val="222222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sz="1100">
                <a:solidFill>
                  <a:srgbClr val="222222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Host: Prof Shreyas Kumar</a:t>
            </a:r>
            <a:endParaRPr sz="1100">
              <a:solidFill>
                <a:srgbClr val="222222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sz="1100">
                <a:solidFill>
                  <a:srgbClr val="222222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</a:t>
            </a:r>
            <a:endParaRPr sz="1100">
              <a:solidFill>
                <a:srgbClr val="222222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sz="1100">
                <a:solidFill>
                  <a:srgbClr val="222222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Abstract:</a:t>
            </a:r>
            <a:endParaRPr sz="1100">
              <a:solidFill>
                <a:srgbClr val="222222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sz="1100">
                <a:solidFill>
                  <a:srgbClr val="222222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The session will be an informal 1–2 hour interaction on AI &amp; Cybersecurity theory/practice, vis-a-vis the new computer science applications that India needs. In addition to the group discussion, the speakers are happy to meet individually over coffee with those interested.</a:t>
            </a:r>
            <a:endParaRPr sz="1100">
              <a:solidFill>
                <a:srgbClr val="222222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sz="1100">
                <a:solidFill>
                  <a:srgbClr val="222222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</a:t>
            </a:r>
            <a:endParaRPr sz="1100">
              <a:solidFill>
                <a:srgbClr val="222222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sz="1100">
                <a:solidFill>
                  <a:srgbClr val="222222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Prof Nitin Saxena, is the </a:t>
            </a:r>
            <a:r>
              <a:rPr lang="en-US" sz="1000">
                <a:solidFill>
                  <a:srgbClr val="222222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Dean, Wadhwani School of AI &amp; Intelligent Systems +N.Rama.Rao.Chair Professor, Computer Science &amp; Engg. at IIT Kanpur</a:t>
            </a:r>
            <a:endParaRPr sz="1000">
              <a:solidFill>
                <a:srgbClr val="222222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sz="1100">
                <a:solidFill>
                  <a:srgbClr val="222222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He is known for </a:t>
            </a:r>
            <a:r>
              <a:rPr lang="en-US" sz="1100" u="sng">
                <a:solidFill>
                  <a:srgbClr val="3056A9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AKS Primality Test</a:t>
            </a:r>
            <a:r>
              <a:rPr lang="en-US" sz="1100">
                <a:solidFill>
                  <a:srgbClr val="202122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in 2002 in a joint work with </a:t>
            </a:r>
            <a:r>
              <a:rPr lang="en-US" sz="1100" u="sng">
                <a:solidFill>
                  <a:srgbClr val="3366CC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Manindra Agrawal</a:t>
            </a:r>
            <a:r>
              <a:rPr lang="en-US" sz="1100">
                <a:solidFill>
                  <a:srgbClr val="202122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and </a:t>
            </a:r>
            <a:r>
              <a:rPr lang="en-US" sz="1100" u="sng">
                <a:solidFill>
                  <a:srgbClr val="3366CC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Neeraj Kayal</a:t>
            </a:r>
            <a:r>
              <a:rPr lang="en-US" sz="1100">
                <a:solidFill>
                  <a:srgbClr val="202122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, for which the trio won the 2006 </a:t>
            </a:r>
            <a:r>
              <a:rPr lang="en-US" sz="1100" u="sng">
                <a:solidFill>
                  <a:srgbClr val="3366CC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Fulkerson Prize</a:t>
            </a:r>
            <a:r>
              <a:rPr lang="en-US" sz="1100">
                <a:solidFill>
                  <a:srgbClr val="202122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, and the 2006 </a:t>
            </a:r>
            <a:r>
              <a:rPr lang="en-US" sz="1100" u="sng">
                <a:solidFill>
                  <a:srgbClr val="3366CC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  <a:hlinkClick r:id="rId8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Gödel Prize</a:t>
            </a:r>
            <a:r>
              <a:rPr lang="en-US" sz="1100">
                <a:solidFill>
                  <a:srgbClr val="202122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.</a:t>
            </a:r>
            <a:endParaRPr sz="1100">
              <a:solidFill>
                <a:srgbClr val="202122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sz="1100">
                <a:solidFill>
                  <a:srgbClr val="222222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</a:t>
            </a:r>
            <a:endParaRPr sz="1100">
              <a:solidFill>
                <a:srgbClr val="222222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sz="1100">
                <a:solidFill>
                  <a:srgbClr val="222222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</a:t>
            </a:r>
            <a:endParaRPr sz="1100">
              <a:solidFill>
                <a:srgbClr val="222222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sz="1100"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Please respond to this form if you plan to attend:</a:t>
            </a:r>
            <a:endParaRPr sz="1100"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sz="1100">
                <a:solidFill>
                  <a:srgbClr val="222222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</a:t>
            </a:r>
            <a:endParaRPr sz="1100">
              <a:solidFill>
                <a:srgbClr val="222222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sz="1100" u="sng">
                <a:solidFill>
                  <a:srgbClr val="1155CC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  <a:hlinkClick r:id="rId9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https://forms.gle/3zNv3JuXCWw4yLaF7</a:t>
            </a:r>
            <a:endParaRPr sz="1100" u="sng">
              <a:solidFill>
                <a:srgbClr val="1155CC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sz="1100">
                <a:solidFill>
                  <a:srgbClr val="222222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</a:t>
            </a:r>
            <a:endParaRPr sz="1100">
              <a:solidFill>
                <a:srgbClr val="222222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64285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64285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38489466ee6_0_11"/>
          <p:cNvSpPr txBox="1"/>
          <p:nvPr>
            <p:ph type="title"/>
          </p:nvPr>
        </p:nvSpPr>
        <p:spPr>
          <a:xfrm>
            <a:off x="0" y="0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Why Incident Response</a:t>
            </a:r>
            <a:endParaRPr/>
          </a:p>
        </p:txBody>
      </p:sp>
      <p:sp>
        <p:nvSpPr>
          <p:cNvPr id="186" name="Google Shape;186;g38489466ee6_0_11"/>
          <p:cNvSpPr txBox="1"/>
          <p:nvPr>
            <p:ph idx="1" type="body"/>
          </p:nvPr>
        </p:nvSpPr>
        <p:spPr>
          <a:xfrm>
            <a:off x="241375" y="15848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925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900"/>
              <a:buFont typeface="Arial"/>
              <a:buChar char="•"/>
            </a:pPr>
            <a:r>
              <a:rPr b="1" lang="en-US" sz="1900">
                <a:latin typeface="Arial"/>
                <a:ea typeface="Arial"/>
                <a:cs typeface="Arial"/>
                <a:sym typeface="Arial"/>
              </a:rPr>
              <a:t>Minimizes Damage</a:t>
            </a:r>
            <a:r>
              <a:rPr lang="en-US" sz="1900">
                <a:latin typeface="Arial"/>
                <a:ea typeface="Arial"/>
                <a:cs typeface="Arial"/>
                <a:sym typeface="Arial"/>
              </a:rPr>
              <a:t>: Rapid response limits the scope and impact of security incidents (data loss, downtime, reputational harm).</a:t>
            </a:r>
            <a:endParaRPr sz="1900">
              <a:latin typeface="Arial"/>
              <a:ea typeface="Arial"/>
              <a:cs typeface="Arial"/>
              <a:sym typeface="Arial"/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Font typeface="Arial"/>
              <a:buChar char="•"/>
            </a:pPr>
            <a:r>
              <a:rPr b="1" lang="en-US" sz="1900">
                <a:latin typeface="Arial"/>
                <a:ea typeface="Arial"/>
                <a:cs typeface="Arial"/>
                <a:sym typeface="Arial"/>
              </a:rPr>
              <a:t>Reduces Recovery Time and Costs</a:t>
            </a:r>
            <a:r>
              <a:rPr lang="en-US" sz="1900">
                <a:latin typeface="Arial"/>
                <a:ea typeface="Arial"/>
                <a:cs typeface="Arial"/>
                <a:sym typeface="Arial"/>
              </a:rPr>
              <a:t>: Quick containment and remediation help avoid prolonged disruptions and expensive recovery efforts.</a:t>
            </a:r>
            <a:endParaRPr sz="1900">
              <a:latin typeface="Arial"/>
              <a:ea typeface="Arial"/>
              <a:cs typeface="Arial"/>
              <a:sym typeface="Arial"/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Font typeface="Arial"/>
              <a:buChar char="•"/>
            </a:pPr>
            <a:r>
              <a:rPr b="1" lang="en-US" sz="1900">
                <a:latin typeface="Arial"/>
                <a:ea typeface="Arial"/>
                <a:cs typeface="Arial"/>
                <a:sym typeface="Arial"/>
              </a:rPr>
              <a:t>Protects Sensitive Data</a:t>
            </a:r>
            <a:r>
              <a:rPr lang="en-US" sz="1900">
                <a:latin typeface="Arial"/>
                <a:ea typeface="Arial"/>
                <a:cs typeface="Arial"/>
                <a:sym typeface="Arial"/>
              </a:rPr>
              <a:t>: Ensures prompt                                                                                action is taken to prevent data breaches                                                                                                                       or minimize data exposure.</a:t>
            </a:r>
            <a:endParaRPr sz="190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87" name="Google Shape;187;g38489466ee6_0_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664400" y="3186200"/>
            <a:ext cx="6527599" cy="3671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38489466ee6_0_16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Engineer for threat detection and response</a:t>
            </a:r>
            <a:endParaRPr/>
          </a:p>
        </p:txBody>
      </p:sp>
      <p:sp>
        <p:nvSpPr>
          <p:cNvPr id="193" name="Google Shape;193;g38489466ee6_0_16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925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900"/>
              <a:buFont typeface="Arial"/>
              <a:buChar char="•"/>
            </a:pPr>
            <a:r>
              <a:rPr lang="en-US" sz="1900">
                <a:latin typeface="Arial"/>
                <a:ea typeface="Arial"/>
                <a:cs typeface="Arial"/>
                <a:sym typeface="Arial"/>
              </a:rPr>
              <a:t>Design Detection Mechanisms: Build systems to monitor logs, network traffic, endpoints, and cloud services for suspicious activity.</a:t>
            </a:r>
            <a:endParaRPr sz="1900">
              <a:latin typeface="Arial"/>
              <a:ea typeface="Arial"/>
              <a:cs typeface="Arial"/>
              <a:sym typeface="Arial"/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Font typeface="Arial"/>
              <a:buChar char="•"/>
            </a:pPr>
            <a:r>
              <a:rPr lang="en-US" sz="1900">
                <a:latin typeface="Arial"/>
                <a:ea typeface="Arial"/>
                <a:cs typeface="Arial"/>
                <a:sym typeface="Arial"/>
              </a:rPr>
              <a:t>Implement Security Monitoring Tools: Deploy and configure tools like SIEM (e.g., Splunk, ELK, Sentinel) and EDR (e.g., CrowdStrike, SentinelOne).</a:t>
            </a:r>
            <a:endParaRPr sz="1900">
              <a:latin typeface="Arial"/>
              <a:ea typeface="Arial"/>
              <a:cs typeface="Arial"/>
              <a:sym typeface="Arial"/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Font typeface="Arial"/>
              <a:buChar char="•"/>
            </a:pPr>
            <a:r>
              <a:rPr lang="en-US" sz="1900">
                <a:latin typeface="Arial"/>
                <a:ea typeface="Arial"/>
                <a:cs typeface="Arial"/>
                <a:sym typeface="Arial"/>
              </a:rPr>
              <a:t>Develop Detection Rules and Use Cases: Write custom rules (e.g., in Sigma, YARA, or SIEM query language) tailored to organizational risks and threats.</a:t>
            </a:r>
            <a:endParaRPr sz="1900">
              <a:latin typeface="Arial"/>
              <a:ea typeface="Arial"/>
              <a:cs typeface="Arial"/>
              <a:sym typeface="Arial"/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Font typeface="Arial"/>
              <a:buChar char="•"/>
            </a:pPr>
            <a:r>
              <a:rPr lang="en-US" sz="1900">
                <a:latin typeface="Arial"/>
                <a:ea typeface="Arial"/>
                <a:cs typeface="Arial"/>
                <a:sym typeface="Arial"/>
              </a:rPr>
              <a:t>Automate Alerting and Triage: Integrate alerts with SOAR platforms to speed up triage and reduce analyst fatigue.</a:t>
            </a:r>
            <a:endParaRPr sz="1900">
              <a:latin typeface="Arial"/>
              <a:ea typeface="Arial"/>
              <a:cs typeface="Arial"/>
              <a:sym typeface="Arial"/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Font typeface="Arial"/>
              <a:buChar char="•"/>
            </a:pPr>
            <a:r>
              <a:rPr lang="en-US" sz="1900">
                <a:latin typeface="Arial"/>
                <a:ea typeface="Arial"/>
                <a:cs typeface="Arial"/>
                <a:sym typeface="Arial"/>
              </a:rPr>
              <a:t>Build Scalable Logging Infrastructure: Ensure proper log collection, normalization, and storage from all relevant sources (cloud, servers, apps, etc.).</a:t>
            </a:r>
            <a:endParaRPr sz="19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38489466ee6_0_21"/>
          <p:cNvSpPr txBox="1"/>
          <p:nvPr>
            <p:ph type="title"/>
          </p:nvPr>
        </p:nvSpPr>
        <p:spPr>
          <a:xfrm>
            <a:off x="73875" y="0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Threat detection as code</a:t>
            </a:r>
            <a:endParaRPr/>
          </a:p>
        </p:txBody>
      </p:sp>
      <p:sp>
        <p:nvSpPr>
          <p:cNvPr id="199" name="Google Shape;199;g38489466ee6_0_21"/>
          <p:cNvSpPr txBox="1"/>
          <p:nvPr>
            <p:ph idx="1" type="body"/>
          </p:nvPr>
        </p:nvSpPr>
        <p:spPr>
          <a:xfrm>
            <a:off x="607850" y="1253400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Char char="●"/>
            </a:pPr>
            <a:r>
              <a:rPr lang="en-US" sz="1900">
                <a:latin typeface="Arial"/>
                <a:ea typeface="Arial"/>
                <a:cs typeface="Arial"/>
                <a:sym typeface="Arial"/>
              </a:rPr>
              <a:t>Detection Logic Written in Code: Treat detection rules (e.g., for SIEM, EDR) as version-controlled, testable, and auditable code.</a:t>
            </a:r>
            <a:endParaRPr sz="1900"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-US" sz="1900">
                <a:latin typeface="Arial"/>
                <a:ea typeface="Arial"/>
                <a:cs typeface="Arial"/>
                <a:sym typeface="Arial"/>
              </a:rPr>
              <a:t>Infrastructure-as-Code Principles: Apply DevOps practices (e.g., CI/CD, GitOps) to manage, deploy, and maintain threat detection logic.</a:t>
            </a:r>
            <a:endParaRPr sz="1900"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-US" sz="1900">
                <a:latin typeface="Arial"/>
                <a:ea typeface="Arial"/>
                <a:cs typeface="Arial"/>
                <a:sym typeface="Arial"/>
              </a:rPr>
              <a:t>Use of Open Formats: Leverage formats like Sigma, YARA, STIX, and OSQuery to write portable, standardized detections.</a:t>
            </a:r>
            <a:br>
              <a:rPr lang="en-US" sz="1100">
                <a:latin typeface="Arial"/>
                <a:ea typeface="Arial"/>
                <a:cs typeface="Arial"/>
                <a:sym typeface="Arial"/>
              </a:rPr>
            </a:b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</p:txBody>
      </p:sp>
      <p:pic>
        <p:nvPicPr>
          <p:cNvPr id="200" name="Google Shape;200;g38489466ee6_0_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187538" y="3799625"/>
            <a:ext cx="6048375" cy="2933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38489466ee6_0_26"/>
          <p:cNvSpPr txBox="1"/>
          <p:nvPr>
            <p:ph type="title"/>
          </p:nvPr>
        </p:nvSpPr>
        <p:spPr>
          <a:xfrm>
            <a:off x="73875" y="0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6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Telemetry Engineering</a:t>
            </a:r>
            <a:endParaRPr/>
          </a:p>
        </p:txBody>
      </p:sp>
      <p:sp>
        <p:nvSpPr>
          <p:cNvPr id="206" name="Google Shape;206;g38489466ee6_0_26"/>
          <p:cNvSpPr txBox="1"/>
          <p:nvPr>
            <p:ph idx="1" type="body"/>
          </p:nvPr>
        </p:nvSpPr>
        <p:spPr>
          <a:xfrm>
            <a:off x="398450" y="1396350"/>
            <a:ext cx="5998800" cy="48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925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900"/>
              <a:buFont typeface="Arial"/>
              <a:buChar char="•"/>
            </a:pPr>
            <a:r>
              <a:rPr lang="en-US" sz="1900">
                <a:latin typeface="Arial"/>
                <a:ea typeface="Arial"/>
                <a:cs typeface="Arial"/>
                <a:sym typeface="Arial"/>
              </a:rPr>
              <a:t>Ship Minimal Viable Telemetry (MVT): Focus on collecting only the most essential telemetry needed to detect high-priority threats — avoid data overload.</a:t>
            </a:r>
            <a:endParaRPr sz="1900">
              <a:latin typeface="Arial"/>
              <a:ea typeface="Arial"/>
              <a:cs typeface="Arial"/>
              <a:sym typeface="Arial"/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Font typeface="Arial"/>
              <a:buChar char="•"/>
            </a:pPr>
            <a:r>
              <a:rPr lang="en-US" sz="1900">
                <a:latin typeface="Arial"/>
                <a:ea typeface="Arial"/>
                <a:cs typeface="Arial"/>
                <a:sym typeface="Arial"/>
              </a:rPr>
              <a:t>Map Telemetry to MITRE ATT&amp;CK Techniques: Align logs and events with specific ATT&amp;CK TTPs (Tactics, Techniques, and Procedures) to ensure relevance and detection coverage.</a:t>
            </a:r>
            <a:endParaRPr sz="1900">
              <a:latin typeface="Arial"/>
              <a:ea typeface="Arial"/>
              <a:cs typeface="Arial"/>
              <a:sym typeface="Arial"/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Font typeface="Arial"/>
              <a:buChar char="•"/>
            </a:pPr>
            <a:r>
              <a:rPr lang="en-US" sz="1900">
                <a:latin typeface="Arial"/>
                <a:ea typeface="Arial"/>
                <a:cs typeface="Arial"/>
                <a:sym typeface="Arial"/>
              </a:rPr>
              <a:t>Schema Enforcement via Ingest Tests: Validate log structure and field consistency during ingestion to ensure downstream tools can reliably parse and use the data.</a:t>
            </a:r>
            <a:endParaRPr sz="190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07" name="Google Shape;207;g38489466ee6_0_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617775" y="1396350"/>
            <a:ext cx="5364250" cy="3038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g38489466ee6_0_31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Design for Detection and Triage</a:t>
            </a:r>
            <a:endParaRPr/>
          </a:p>
        </p:txBody>
      </p:sp>
      <p:sp>
        <p:nvSpPr>
          <p:cNvPr id="213" name="Google Shape;213;g38489466ee6_0_31"/>
          <p:cNvSpPr txBox="1"/>
          <p:nvPr>
            <p:ph idx="1" type="body"/>
          </p:nvPr>
        </p:nvSpPr>
        <p:spPr>
          <a:xfrm>
            <a:off x="838200" y="1825625"/>
            <a:ext cx="48984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34925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900"/>
              <a:buFont typeface="Arial"/>
              <a:buChar char="•"/>
            </a:pPr>
            <a:r>
              <a:rPr lang="en-US" sz="1900">
                <a:latin typeface="Arial"/>
                <a:ea typeface="Arial"/>
                <a:cs typeface="Arial"/>
                <a:sym typeface="Arial"/>
              </a:rPr>
              <a:t>Clear Detection Priorities: Design detections based on threat likelihood and impact, aligning with business risk and critical assets.</a:t>
            </a:r>
            <a:endParaRPr sz="1900">
              <a:latin typeface="Arial"/>
              <a:ea typeface="Arial"/>
              <a:cs typeface="Arial"/>
              <a:sym typeface="Arial"/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Font typeface="Arial"/>
              <a:buChar char="•"/>
            </a:pPr>
            <a:r>
              <a:rPr lang="en-US" sz="1900">
                <a:latin typeface="Arial"/>
                <a:ea typeface="Arial"/>
                <a:cs typeface="Arial"/>
                <a:sym typeface="Arial"/>
              </a:rPr>
              <a:t>Layered Detection Approach: Use multiple detection layers (e.g., network, endpoint, cloud, and application) to provide a comprehensive view of threats.</a:t>
            </a:r>
            <a:endParaRPr sz="1900">
              <a:latin typeface="Arial"/>
              <a:ea typeface="Arial"/>
              <a:cs typeface="Arial"/>
              <a:sym typeface="Arial"/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Font typeface="Arial"/>
              <a:buChar char="•"/>
            </a:pPr>
            <a:r>
              <a:rPr lang="en-US" sz="1900">
                <a:latin typeface="Arial"/>
                <a:ea typeface="Arial"/>
                <a:cs typeface="Arial"/>
                <a:sym typeface="Arial"/>
              </a:rPr>
              <a:t>Contextualized Alerts: Ensure alerts provide enough context (e.g., affected assets, severity, and possible attacker tactics) to help triage teams prioritize effectively.</a:t>
            </a:r>
            <a:endParaRPr sz="190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14" name="Google Shape;214;g38489466ee6_0_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36600" y="1953248"/>
            <a:ext cx="6389700" cy="4600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g38489466ee6_0_36"/>
          <p:cNvSpPr txBox="1"/>
          <p:nvPr>
            <p:ph type="title"/>
          </p:nvPr>
        </p:nvSpPr>
        <p:spPr>
          <a:xfrm>
            <a:off x="63400" y="824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Automated Containment Patterns</a:t>
            </a:r>
            <a:endParaRPr/>
          </a:p>
        </p:txBody>
      </p:sp>
      <p:sp>
        <p:nvSpPr>
          <p:cNvPr id="220" name="Google Shape;220;g38489466ee6_0_36"/>
          <p:cNvSpPr txBox="1"/>
          <p:nvPr>
            <p:ph idx="1" type="body"/>
          </p:nvPr>
        </p:nvSpPr>
        <p:spPr>
          <a:xfrm>
            <a:off x="388000" y="1690825"/>
            <a:ext cx="70620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925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900"/>
              <a:buFont typeface="Arial"/>
              <a:buChar char="•"/>
            </a:pPr>
            <a:r>
              <a:rPr lang="en-US" sz="1900">
                <a:latin typeface="Arial"/>
                <a:ea typeface="Arial"/>
                <a:cs typeface="Arial"/>
                <a:sym typeface="Arial"/>
              </a:rPr>
              <a:t>Rapid Isolation of Compromised Assets: Automate the process of isolating compromised hosts or accounts to prevent further lateral movement or data exfiltration.</a:t>
            </a:r>
            <a:endParaRPr sz="1900">
              <a:latin typeface="Arial"/>
              <a:ea typeface="Arial"/>
              <a:cs typeface="Arial"/>
              <a:sym typeface="Arial"/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Font typeface="Arial"/>
              <a:buChar char="•"/>
            </a:pPr>
            <a:r>
              <a:rPr lang="en-US" sz="1900">
                <a:latin typeface="Arial"/>
                <a:ea typeface="Arial"/>
                <a:cs typeface="Arial"/>
                <a:sym typeface="Arial"/>
              </a:rPr>
              <a:t>Network Segmentation and Isolation: Automatically segment affected parts of the network (e.g., quarantine VLANs) to contain threats without disrupting unaffected areas.</a:t>
            </a:r>
            <a:endParaRPr sz="1900">
              <a:latin typeface="Arial"/>
              <a:ea typeface="Arial"/>
              <a:cs typeface="Arial"/>
              <a:sym typeface="Arial"/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Font typeface="Arial"/>
              <a:buChar char="•"/>
            </a:pPr>
            <a:r>
              <a:rPr lang="en-US" sz="1900">
                <a:latin typeface="Arial"/>
                <a:ea typeface="Arial"/>
                <a:cs typeface="Arial"/>
                <a:sym typeface="Arial"/>
              </a:rPr>
              <a:t>Automated Endpoint Quarantine: Use EDR tools to automatically quarantine compromised endpoints or isolate suspicious processes based on predefined rules.</a:t>
            </a:r>
            <a:endParaRPr sz="190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21" name="Google Shape;221;g38489466ee6_0_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895174" y="1586497"/>
            <a:ext cx="5229350" cy="4024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g38489466ee6_0_46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Forensics Fundamentals</a:t>
            </a:r>
            <a:endParaRPr/>
          </a:p>
        </p:txBody>
      </p:sp>
      <p:sp>
        <p:nvSpPr>
          <p:cNvPr id="227" name="Google Shape;227;g38489466ee6_0_46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34925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900"/>
              <a:buFont typeface="Arial"/>
              <a:buChar char="•"/>
            </a:pPr>
            <a:r>
              <a:rPr lang="en-US" sz="1900">
                <a:latin typeface="Arial"/>
                <a:ea typeface="Arial"/>
                <a:cs typeface="Arial"/>
                <a:sym typeface="Arial"/>
              </a:rPr>
              <a:t>Purpose of Digital Forensics: Identify, preserve, analyze, and present digital evidence in support of investigations or legal proceedings.</a:t>
            </a:r>
            <a:endParaRPr sz="1900">
              <a:latin typeface="Arial"/>
              <a:ea typeface="Arial"/>
              <a:cs typeface="Arial"/>
              <a:sym typeface="Arial"/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Font typeface="Arial"/>
              <a:buChar char="•"/>
            </a:pPr>
            <a:r>
              <a:rPr lang="en-US" sz="1900">
                <a:latin typeface="Arial"/>
                <a:ea typeface="Arial"/>
                <a:cs typeface="Arial"/>
                <a:sym typeface="Arial"/>
              </a:rPr>
              <a:t>Key Forensic Principles</a:t>
            </a:r>
            <a:endParaRPr sz="1900">
              <a:latin typeface="Arial"/>
              <a:ea typeface="Arial"/>
              <a:cs typeface="Arial"/>
              <a:sym typeface="Arial"/>
            </a:endParaRPr>
          </a:p>
          <a:p>
            <a:pPr indent="-3492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Font typeface="Arial"/>
              <a:buChar char="•"/>
            </a:pPr>
            <a:r>
              <a:rPr lang="en-US" sz="1900">
                <a:latin typeface="Arial"/>
                <a:ea typeface="Arial"/>
                <a:cs typeface="Arial"/>
                <a:sym typeface="Arial"/>
              </a:rPr>
              <a:t>Preserve Evidence Integrity (no alteration)</a:t>
            </a:r>
            <a:endParaRPr sz="1900">
              <a:latin typeface="Arial"/>
              <a:ea typeface="Arial"/>
              <a:cs typeface="Arial"/>
              <a:sym typeface="Arial"/>
            </a:endParaRPr>
          </a:p>
          <a:p>
            <a:pPr indent="-3492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Font typeface="Arial"/>
              <a:buChar char="•"/>
            </a:pPr>
            <a:r>
              <a:rPr lang="en-US" sz="1900">
                <a:latin typeface="Arial"/>
                <a:ea typeface="Arial"/>
                <a:cs typeface="Arial"/>
                <a:sym typeface="Arial"/>
              </a:rPr>
              <a:t>Maintain Chain of Custody (document who handled the evidence)</a:t>
            </a:r>
            <a:endParaRPr sz="1900">
              <a:latin typeface="Arial"/>
              <a:ea typeface="Arial"/>
              <a:cs typeface="Arial"/>
              <a:sym typeface="Arial"/>
            </a:endParaRPr>
          </a:p>
          <a:p>
            <a:pPr indent="-3492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Font typeface="Arial"/>
              <a:buChar char="•"/>
            </a:pPr>
            <a:r>
              <a:rPr lang="en-US" sz="1900">
                <a:latin typeface="Arial"/>
                <a:ea typeface="Arial"/>
                <a:cs typeface="Arial"/>
                <a:sym typeface="Arial"/>
              </a:rPr>
              <a:t>Repeatability and Verifiability (methods must be defensible and reproducible)</a:t>
            </a:r>
            <a:endParaRPr sz="1900">
              <a:latin typeface="Arial"/>
              <a:ea typeface="Arial"/>
              <a:cs typeface="Arial"/>
              <a:sym typeface="Arial"/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Font typeface="Arial"/>
              <a:buChar char="•"/>
            </a:pPr>
            <a:r>
              <a:rPr lang="en-US" sz="1900">
                <a:latin typeface="Arial"/>
                <a:ea typeface="Arial"/>
                <a:cs typeface="Arial"/>
                <a:sym typeface="Arial"/>
              </a:rPr>
              <a:t>Types of Forensic Data</a:t>
            </a:r>
            <a:endParaRPr sz="1900">
              <a:latin typeface="Arial"/>
              <a:ea typeface="Arial"/>
              <a:cs typeface="Arial"/>
              <a:sym typeface="Arial"/>
            </a:endParaRPr>
          </a:p>
          <a:p>
            <a:pPr indent="-3492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Font typeface="Arial"/>
              <a:buChar char="•"/>
            </a:pPr>
            <a:r>
              <a:rPr lang="en-US" sz="1900">
                <a:latin typeface="Arial"/>
                <a:ea typeface="Arial"/>
                <a:cs typeface="Arial"/>
                <a:sym typeface="Arial"/>
              </a:rPr>
              <a:t>Volatile Data (RAM, processes, network connections — must be captured first)</a:t>
            </a:r>
            <a:endParaRPr sz="1900">
              <a:latin typeface="Arial"/>
              <a:ea typeface="Arial"/>
              <a:cs typeface="Arial"/>
              <a:sym typeface="Arial"/>
            </a:endParaRPr>
          </a:p>
          <a:p>
            <a:pPr indent="-3492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Font typeface="Arial"/>
              <a:buChar char="•"/>
            </a:pPr>
            <a:r>
              <a:rPr lang="en-US" sz="1900">
                <a:latin typeface="Arial"/>
                <a:ea typeface="Arial"/>
                <a:cs typeface="Arial"/>
                <a:sym typeface="Arial"/>
              </a:rPr>
              <a:t>Non-Volatile Data (disk images, log files, registry, system artifacts)</a:t>
            </a:r>
            <a:endParaRPr sz="1900">
              <a:latin typeface="Arial"/>
              <a:ea typeface="Arial"/>
              <a:cs typeface="Arial"/>
              <a:sym typeface="Arial"/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Font typeface="Arial"/>
              <a:buChar char="•"/>
            </a:pPr>
            <a:r>
              <a:rPr lang="en-US" sz="1900">
                <a:latin typeface="Arial"/>
                <a:ea typeface="Arial"/>
                <a:cs typeface="Arial"/>
                <a:sym typeface="Arial"/>
              </a:rPr>
              <a:t>Common Forensic Artifacts</a:t>
            </a:r>
            <a:endParaRPr sz="1900">
              <a:latin typeface="Arial"/>
              <a:ea typeface="Arial"/>
              <a:cs typeface="Arial"/>
              <a:sym typeface="Arial"/>
            </a:endParaRPr>
          </a:p>
          <a:p>
            <a:pPr indent="-3492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Font typeface="Arial"/>
              <a:buChar char="•"/>
            </a:pPr>
            <a:r>
              <a:rPr lang="en-US" sz="1900">
                <a:latin typeface="Arial"/>
                <a:ea typeface="Arial"/>
                <a:cs typeface="Arial"/>
                <a:sym typeface="Arial"/>
              </a:rPr>
              <a:t>File system metadata (timestamps, deleted files)</a:t>
            </a:r>
            <a:endParaRPr sz="1900">
              <a:latin typeface="Arial"/>
              <a:ea typeface="Arial"/>
              <a:cs typeface="Arial"/>
              <a:sym typeface="Arial"/>
            </a:endParaRPr>
          </a:p>
          <a:p>
            <a:pPr indent="-3492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Font typeface="Arial"/>
              <a:buChar char="•"/>
            </a:pPr>
            <a:r>
              <a:rPr lang="en-US" sz="1900">
                <a:latin typeface="Arial"/>
                <a:ea typeface="Arial"/>
                <a:cs typeface="Arial"/>
                <a:sym typeface="Arial"/>
              </a:rPr>
              <a:t>Log files (authentication, system, application)</a:t>
            </a:r>
            <a:endParaRPr sz="1900">
              <a:latin typeface="Arial"/>
              <a:ea typeface="Arial"/>
              <a:cs typeface="Arial"/>
              <a:sym typeface="Arial"/>
            </a:endParaRPr>
          </a:p>
          <a:p>
            <a:pPr indent="-3492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Font typeface="Arial"/>
              <a:buChar char="•"/>
            </a:pPr>
            <a:r>
              <a:rPr lang="en-US" sz="1900">
                <a:latin typeface="Arial"/>
                <a:ea typeface="Arial"/>
                <a:cs typeface="Arial"/>
                <a:sym typeface="Arial"/>
              </a:rPr>
              <a:t>Browser and email history</a:t>
            </a:r>
            <a:endParaRPr sz="1900">
              <a:latin typeface="Arial"/>
              <a:ea typeface="Arial"/>
              <a:cs typeface="Arial"/>
              <a:sym typeface="Arial"/>
            </a:endParaRPr>
          </a:p>
          <a:p>
            <a:pPr indent="-3492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Font typeface="Arial"/>
              <a:buChar char="•"/>
            </a:pPr>
            <a:r>
              <a:rPr lang="en-US" sz="1900">
                <a:latin typeface="Arial"/>
                <a:ea typeface="Arial"/>
                <a:cs typeface="Arial"/>
                <a:sym typeface="Arial"/>
              </a:rPr>
              <a:t>Prefetch, registry hives, memory dumps</a:t>
            </a:r>
            <a:endParaRPr sz="19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1_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2023-08-17T13:21:19Z</dcterms:created>
  <dc:creator>Beideman, Calvin James</dc:creator>
</cp:coreProperties>
</file>